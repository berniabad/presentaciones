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D0BE9C-4660-48CF-8801-D02DEA01EC5D}">
  <a:tblStyle styleId="{2BD0BE9C-4660-48CF-8801-D02DEA01EC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le_dark.jp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big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789" y="3154680"/>
            <a:ext cx="2864115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0" y="5047488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Argentina 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0" y="5724144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CFD3D8"/>
                </a:solidFill>
                <a:latin typeface="Arial"/>
                <a:ea typeface="Arial"/>
                <a:cs typeface="Arial"/>
                <a:sym typeface="Arial"/>
              </a:rPr>
              <a:t>Market Analysis &amp; Commercial Performance</a:t>
            </a:r>
            <a:endParaRPr/>
          </a:p>
        </p:txBody>
      </p:sp>
      <p:pic>
        <p:nvPicPr>
          <p:cNvPr descr="gep_whit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7127" y="6415964"/>
            <a:ext cx="2377440" cy="24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MARKET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Total Market vs. Chinese Brands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48640" y="1874519"/>
            <a:ext cx="5318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TOTAL MARKET  —  units patented</a:t>
            </a:r>
            <a:endParaRPr/>
          </a:p>
        </p:txBody>
      </p:sp>
      <p:pic>
        <p:nvPicPr>
          <p:cNvPr descr="c1_total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57001" y="2194560"/>
            <a:ext cx="3501884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6324447" y="1874519"/>
            <a:ext cx="5318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CHINESE BRANDS  —  units patented</a:t>
            </a:r>
            <a:endParaRPr/>
          </a:p>
        </p:txBody>
      </p:sp>
      <p:pic>
        <p:nvPicPr>
          <p:cNvPr descr="c1_china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32809" y="2194560"/>
            <a:ext cx="3501884" cy="246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548640" y="4846320"/>
            <a:ext cx="5318607" cy="713232"/>
          </a:xfrm>
          <a:prstGeom prst="roundRect">
            <a:avLst>
              <a:gd fmla="val 14000" name="adj"/>
            </a:avLst>
          </a:prstGeom>
          <a:solidFill>
            <a:srgbClr val="1C4C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48640" y="4846320"/>
            <a:ext cx="5318607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–10%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 market · Jan–May '25 vs '26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324447" y="4846320"/>
            <a:ext cx="5318607" cy="713232"/>
          </a:xfrm>
          <a:prstGeom prst="roundRect">
            <a:avLst>
              <a:gd fmla="val 14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324447" y="4846320"/>
            <a:ext cx="5318607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+529%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Chinese brands · Jan–May '25 vs '26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48640" y="5715000"/>
            <a:ext cx="11094415" cy="603504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548640" y="5715000"/>
            <a:ext cx="64008" cy="603504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22959" y="5715000"/>
            <a:ext cx="1059149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The overall market is contracting, yet Chinese brands are scaling exponentially — from 13.9k units in 2025 to 22.6k in the first five months of 2026 alone.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ORIGIN OF SUPPLY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Imported vs. Domestic Production</a:t>
            </a:r>
            <a:endParaRPr/>
          </a:p>
        </p:txBody>
      </p:sp>
      <p:pic>
        <p:nvPicPr>
          <p:cNvPr descr="c2_origin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1965960"/>
            <a:ext cx="5876088" cy="32918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772400" y="2011680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727A"/>
                </a:solidFill>
                <a:latin typeface="Arial"/>
                <a:ea typeface="Arial"/>
                <a:cs typeface="Arial"/>
                <a:sym typeface="Arial"/>
              </a:rPr>
              <a:t>UNITS PATENTED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772400" y="2377440"/>
            <a:ext cx="3870655" cy="1024128"/>
          </a:xfrm>
          <a:prstGeom prst="roundRect">
            <a:avLst>
              <a:gd fmla="val 10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8001000" y="2487168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001000" y="2779776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Domestic   234,423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01000" y="3072384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Imported    366,212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772400" y="3566160"/>
            <a:ext cx="3870655" cy="1024128"/>
          </a:xfrm>
          <a:prstGeom prst="roundRect">
            <a:avLst>
              <a:gd fmla="val 10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001000" y="3675887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2026 YTD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8001000" y="3968496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Domestic   76,711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001000" y="4261104"/>
            <a:ext cx="34134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Imported    165,147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7772400" y="4754880"/>
            <a:ext cx="3870655" cy="676656"/>
          </a:xfrm>
          <a:prstGeom prst="roundRect">
            <a:avLst>
              <a:gd fmla="val 14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7772400" y="4754880"/>
            <a:ext cx="3870655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39% → 32%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Domestic share of market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548640" y="5715000"/>
            <a:ext cx="11094415" cy="603504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48640" y="5715000"/>
            <a:ext cx="64008" cy="603504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822959" y="5715000"/>
            <a:ext cx="1059149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Argentina is increasingly import-dependent: domestic output is shrinking while China is the only origin growing (+246% YoY), reshaping the supply mix.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142" name="Google Shape;14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THE CHINA SURGE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Chinese Brands — Market Share Evolution</a:t>
            </a:r>
            <a:endParaRPr/>
          </a:p>
        </p:txBody>
      </p:sp>
      <p:pic>
        <p:nvPicPr>
          <p:cNvPr descr="c3_shar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2344" y="1828800"/>
            <a:ext cx="9667006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548640" y="4956048"/>
            <a:ext cx="3454298" cy="694944"/>
          </a:xfrm>
          <a:prstGeom prst="roundRect">
            <a:avLst>
              <a:gd fmla="val 14000" name="adj"/>
            </a:avLst>
          </a:prstGeom>
          <a:solidFill>
            <a:srgbClr val="6E727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48640" y="4956048"/>
            <a:ext cx="345429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1.0%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share · Jan 2025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4368698" y="4956048"/>
            <a:ext cx="3454298" cy="694944"/>
          </a:xfrm>
          <a:prstGeom prst="roundRect">
            <a:avLst>
              <a:gd fmla="val 14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368698" y="4956048"/>
            <a:ext cx="345429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11.5%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Market share · May 2026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8188756" y="4956048"/>
            <a:ext cx="3454298" cy="694944"/>
          </a:xfrm>
          <a:prstGeom prst="roundRect">
            <a:avLst>
              <a:gd fmla="val 14000" name="adj"/>
            </a:avLst>
          </a:prstGeom>
          <a:solidFill>
            <a:srgbClr val="1C4C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8188756" y="4956048"/>
            <a:ext cx="3454298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≈11×</a:t>
            </a:r>
            <a:endParaRPr/>
          </a:p>
          <a:p>
            <a:pPr indent="0" lvl="0" marL="0" marR="0" rtl="0" algn="ctr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Growth in 16 months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48640" y="5760720"/>
            <a:ext cx="64008" cy="548640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22959" y="5760720"/>
            <a:ext cx="105914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In just 16 months Chinese brands went from a 1% niche to over 11% of the Argentine market — one of the fastest share gains the industry has seen.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MARKET STRUCTURE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Segments, Fuel &amp; Country of Origin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48640" y="1874519"/>
            <a:ext cx="33933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TOP SEGMENTS  ·  2025</a:t>
            </a:r>
            <a:endParaRPr/>
          </a:p>
        </p:txBody>
      </p:sp>
      <p:pic>
        <p:nvPicPr>
          <p:cNvPr descr="c4_seg.png" id="168" name="Google Shape;16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2194560"/>
            <a:ext cx="3393338" cy="257615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/>
          <p:nvPr/>
        </p:nvSpPr>
        <p:spPr>
          <a:xfrm>
            <a:off x="4399178" y="1874519"/>
            <a:ext cx="33933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FUEL TYPE  ·  2025</a:t>
            </a:r>
            <a:endParaRPr/>
          </a:p>
        </p:txBody>
      </p:sp>
      <p:pic>
        <p:nvPicPr>
          <p:cNvPr descr="c4_fuel.png" id="170" name="Google Shape;17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9178" y="2194560"/>
            <a:ext cx="3314754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4399178" y="3840480"/>
            <a:ext cx="339333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6E727A"/>
                </a:solidFill>
                <a:latin typeface="Arial"/>
                <a:ea typeface="Arial"/>
                <a:cs typeface="Arial"/>
                <a:sym typeface="Arial"/>
              </a:rPr>
              <a:t>Electrified is the fastest-growing fuel: +333% YoY.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8249716" y="1874519"/>
            <a:ext cx="33933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3A6FB0"/>
                </a:solidFill>
                <a:latin typeface="Arial"/>
                <a:ea typeface="Arial"/>
                <a:cs typeface="Arial"/>
                <a:sym typeface="Arial"/>
              </a:rPr>
              <a:t>COUNTRY OF ORIGIN  ·  2025</a:t>
            </a:r>
            <a:endParaRPr/>
          </a:p>
        </p:txBody>
      </p:sp>
      <p:pic>
        <p:nvPicPr>
          <p:cNvPr descr="c4_orig.png" id="173" name="Google Shape;17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49716" y="2194560"/>
            <a:ext cx="33379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548640" y="5532120"/>
            <a:ext cx="11094415" cy="603504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48640" y="5532120"/>
            <a:ext cx="64008" cy="603504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822959" y="5532120"/>
            <a:ext cx="1059149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SUVs are now the #1 segment (215k) and the structural growth engine, while gasoline still dominates the powertrain mix and Brazil leads supply.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183" name="Google Shape;18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185" name="Google Shape;18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BRAND LANDSCAPE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Top 10 Brands — 2025 vs. 2026</a:t>
            </a:r>
            <a:endParaRPr/>
          </a:p>
        </p:txBody>
      </p:sp>
      <p:graphicFrame>
        <p:nvGraphicFramePr>
          <p:cNvPr id="188" name="Google Shape;188;p18"/>
          <p:cNvGraphicFramePr/>
          <p:nvPr/>
        </p:nvGraphicFramePr>
        <p:xfrm>
          <a:off x="548640" y="18745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640075"/>
                <a:gridCol w="4937750"/>
                <a:gridCol w="4937750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2026 YTD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TOYOTA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TOYOTA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FIAT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FIAT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PEUGEOT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CHEVROLET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CHEVROLET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PEUGEOT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CITROEN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CITROEN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JEEP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MERCEDES BENZ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E5151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MERCEDES BENZ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DE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DE7E7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18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548640" y="5596128"/>
            <a:ext cx="64008" cy="566928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822959" y="5596128"/>
            <a:ext cx="1059149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BYD breaks into the Top 10 in 2026 — the first Chinese brand to do so, displacing Jeep; Volkswagen overtakes Toyota for the #1 position.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COMPETITIVE SET — X3 / X3 PRO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KAIYI X3 vs. the SUV B-Segment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48640" y="1810512"/>
            <a:ext cx="11094415" cy="566928"/>
          </a:xfrm>
          <a:prstGeom prst="roundRect">
            <a:avLst>
              <a:gd fmla="val 12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804672" y="1810512"/>
            <a:ext cx="75282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KAIYI X3  $22,000      ·      KAIYI X3 PRO  $26,000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396935" y="1810512"/>
            <a:ext cx="2990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Segment 2025: 111,867   |   2026 YTD: 42,103</a:t>
            </a:r>
            <a:endParaRPr/>
          </a:p>
        </p:txBody>
      </p:sp>
      <p:graphicFrame>
        <p:nvGraphicFramePr>
          <p:cNvPr id="206" name="Google Shape;206;p19"/>
          <p:cNvGraphicFramePr/>
          <p:nvPr/>
        </p:nvGraphicFramePr>
        <p:xfrm>
          <a:off x="54864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4937750"/>
                <a:gridCol w="2331725"/>
                <a:gridCol w="2057400"/>
                <a:gridCol w="2057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 (USD)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2025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2026 YTD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 Tera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$26–33k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4,779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7,065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Chevrolet Tracker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$28–35k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17,654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6,451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Peugeot 2008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$32–38k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15,347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5,177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 Kardian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$26–34k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11,345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3,551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 Nivus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$31–38k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10,855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3,174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 T-Cross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$36–46k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9,832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2,888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Nissan Kicks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$26–33k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5,519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2,410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Jeep Renegade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$33–41k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9,753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2,385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Citroen Basalt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$23–28k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6,544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2,382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Citroen Aircross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$26–31k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7,378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2,048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Fiat Pulse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$26–32k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6,073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2,040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Honda HR-V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$32–36k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2,358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1,322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 Duster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$30–34k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4,430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1,210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" name="Google Shape;207;p19"/>
          <p:cNvSpPr/>
          <p:nvPr/>
        </p:nvSpPr>
        <p:spPr>
          <a:xfrm>
            <a:off x="548640" y="5797296"/>
            <a:ext cx="11094415" cy="493776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548640" y="5797296"/>
            <a:ext cx="64008" cy="493776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822959" y="5797296"/>
            <a:ext cx="105914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KAIYI X3 enters at the accessible end of Argentina's largest growth segment, undercutting most established SUV rivals on price.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217" name="Google Shape;21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COMPETITIVE SET — X3 / X3 PRO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KAIYI X3 vs. the Passenger-Car Segment</a:t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548640" y="1810512"/>
            <a:ext cx="11094415" cy="566928"/>
          </a:xfrm>
          <a:prstGeom prst="roundRect">
            <a:avLst>
              <a:gd fmla="val 12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804672" y="1810512"/>
            <a:ext cx="752825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KAIYI X3  $22,000      ·      KAIYI X3 PRO  $26,000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396935" y="1810512"/>
            <a:ext cx="299008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Segment 2025: 144,929   |   2026 YTD: 46,958</a:t>
            </a:r>
            <a:endParaRPr/>
          </a:p>
        </p:txBody>
      </p:sp>
      <p:graphicFrame>
        <p:nvGraphicFramePr>
          <p:cNvPr id="224" name="Google Shape;224;p20"/>
          <p:cNvGraphicFramePr/>
          <p:nvPr/>
        </p:nvGraphicFramePr>
        <p:xfrm>
          <a:off x="54864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4937750"/>
                <a:gridCol w="2331725"/>
                <a:gridCol w="2057400"/>
                <a:gridCol w="20574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 (USD)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2025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2026 YTD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Peugeot 208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$22–31k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29,093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10,185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Fiat Cronos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$22–27k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29,908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10,138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Chevrolet Onix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$22–27k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13,707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6,108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Toyota Yaris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$24–29k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30,152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5,042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 Polo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$27–33k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21,326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4,774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Fiat Argo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$21–23k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4,211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2,611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Citroen C3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$22–24k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5,458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2,554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Hyundai HB20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$20–25k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3,311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2,042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Kia K3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$25–28k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2,011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1,508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Honda WR-V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$30k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949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MG3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$24–26k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 Stepway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$25–26k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3,048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Renault Sandero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$27–28k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2,571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20"/>
          <p:cNvSpPr/>
          <p:nvPr/>
        </p:nvSpPr>
        <p:spPr>
          <a:xfrm>
            <a:off x="548640" y="5797296"/>
            <a:ext cx="11094415" cy="493776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48640" y="5797296"/>
            <a:ext cx="64008" cy="493776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822959" y="5797296"/>
            <a:ext cx="10591495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Priced like a hatchback but sized as an SUV, the X3 competes directly against the country's highest-volume passenger cars.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COMPETITIVE SET — X7 PRO / X7 PHEV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KAIYI X7 vs. the C-SUV Segment</a:t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48640" y="1810512"/>
            <a:ext cx="11094415" cy="566928"/>
          </a:xfrm>
          <a:prstGeom prst="roundRect">
            <a:avLst>
              <a:gd fmla="val 12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804672" y="1810512"/>
            <a:ext cx="10637215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KAIYI X7 PHEV  $35,000        ·        KAIYI X7 PRO  $38,000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548640" y="2542032"/>
            <a:ext cx="5318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INTERNATIONAL BRANDS</a:t>
            </a:r>
            <a:endParaRPr/>
          </a:p>
        </p:txBody>
      </p:sp>
      <p:graphicFrame>
        <p:nvGraphicFramePr>
          <p:cNvPr id="242" name="Google Shape;242;p21"/>
          <p:cNvGraphicFramePr/>
          <p:nvPr/>
        </p:nvGraphicFramePr>
        <p:xfrm>
          <a:off x="548640" y="2816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2743200"/>
                <a:gridCol w="1325875"/>
                <a:gridCol w="1280150"/>
              </a:tblGrid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'26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Ford Teritory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$34–40k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8,973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Volkswagen Taos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$41–47k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4,906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Toyota Corolla Cross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$37–45k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4,815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Jeep Compass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$39–51k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Chevrolet Captiva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1,486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Jeep Commander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$48–59k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Peugeot 3008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Hyundai Tucson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$48–66k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21"/>
          <p:cNvSpPr txBox="1"/>
          <p:nvPr/>
        </p:nvSpPr>
        <p:spPr>
          <a:xfrm>
            <a:off x="6324447" y="2542032"/>
            <a:ext cx="5318607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CHINESE BRANDS</a:t>
            </a:r>
            <a:endParaRPr/>
          </a:p>
        </p:txBody>
      </p:sp>
      <p:graphicFrame>
        <p:nvGraphicFramePr>
          <p:cNvPr id="244" name="Google Shape;244;p21"/>
          <p:cNvGraphicFramePr/>
          <p:nvPr/>
        </p:nvGraphicFramePr>
        <p:xfrm>
          <a:off x="6324447" y="28163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2743200"/>
                <a:gridCol w="1325875"/>
                <a:gridCol w="1280150"/>
              </a:tblGrid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Units '26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BAIC BJ30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$36–42k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3,306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BYD Song Pro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$35–37k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2,019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Haval H6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$36–44k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1,244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Changan CS55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$32k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BAIC X55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$37–42k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Jetour Dashing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JAC JS6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139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GAC Emkoo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Jetour X70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$40k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Cherry Tiggo 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$47k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JAC JS8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$39k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DFSK E5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$34k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DFSK Glory 580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$28k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21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ader.png" id="251" name="Google Shape;25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p_white.png" id="252" name="Google Shape;25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86577"/>
            <a:ext cx="1554480" cy="159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h.png" id="253" name="Google Shape;25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48495" y="341506"/>
            <a:ext cx="2194560" cy="249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548640" y="111556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COMMERCIAL PERFORMANCE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KAIYI Pipeline — Orders → Wholesale → Retail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548640" y="1901952"/>
            <a:ext cx="5760720" cy="914400"/>
          </a:xfrm>
          <a:prstGeom prst="roundRect">
            <a:avLst>
              <a:gd fmla="val 10000" name="adj"/>
            </a:avLst>
          </a:prstGeom>
          <a:solidFill>
            <a:srgbClr val="1C4C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822959" y="1901952"/>
            <a:ext cx="5212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ORDERED FROM CHINA</a:t>
            </a:r>
            <a:endParaRPr/>
          </a:p>
        </p:txBody>
      </p:sp>
      <p:sp>
        <p:nvSpPr>
          <p:cNvPr id="258" name="Google Shape;258;p22"/>
          <p:cNvSpPr txBox="1"/>
          <p:nvPr/>
        </p:nvSpPr>
        <p:spPr>
          <a:xfrm>
            <a:off x="6537959" y="1901952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991</a:t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48640" y="3054096"/>
            <a:ext cx="5083210" cy="914400"/>
          </a:xfrm>
          <a:prstGeom prst="roundRect">
            <a:avLst>
              <a:gd fmla="val 10000" name="adj"/>
            </a:avLst>
          </a:prstGeom>
          <a:solidFill>
            <a:srgbClr val="3A6F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822959" y="3054096"/>
            <a:ext cx="453457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WHOLESALE TO DEALERS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5860450" y="3054096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A6FB0"/>
                </a:solidFill>
                <a:latin typeface="Arial"/>
                <a:ea typeface="Arial"/>
                <a:cs typeface="Arial"/>
                <a:sym typeface="Arial"/>
              </a:rPr>
              <a:t>732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548640" y="4206240"/>
            <a:ext cx="4599275" cy="914400"/>
          </a:xfrm>
          <a:prstGeom prst="roundRect">
            <a:avLst>
              <a:gd fmla="val 10000" name="adj"/>
            </a:avLst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822959" y="4206240"/>
            <a:ext cx="40506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RETAIL (PATENTED)</a:t>
            </a:r>
            <a:endParaRPr/>
          </a:p>
        </p:txBody>
      </p:sp>
      <p:sp>
        <p:nvSpPr>
          <p:cNvPr id="264" name="Google Shape;264;p22"/>
          <p:cNvSpPr txBox="1"/>
          <p:nvPr/>
        </p:nvSpPr>
        <p:spPr>
          <a:xfrm>
            <a:off x="5376515" y="4206240"/>
            <a:ext cx="2011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5151B"/>
                </a:solidFill>
                <a:latin typeface="Arial"/>
                <a:ea typeface="Arial"/>
                <a:cs typeface="Arial"/>
                <a:sym typeface="Arial"/>
              </a:rPr>
              <a:t>547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548640" y="5303520"/>
            <a:ext cx="795527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E727A"/>
                </a:solidFill>
                <a:latin typeface="Arial"/>
                <a:ea typeface="Arial"/>
                <a:cs typeface="Arial"/>
                <a:sym typeface="Arial"/>
              </a:rPr>
              <a:t>Order → Wholesale: 74%      Wholesale → Retail: 75%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7772400" y="1901952"/>
            <a:ext cx="3870655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C4C97"/>
                </a:solidFill>
                <a:latin typeface="Arial"/>
                <a:ea typeface="Arial"/>
                <a:cs typeface="Arial"/>
                <a:sym typeface="Arial"/>
              </a:rPr>
              <a:t>BY MODEL  ·  2026</a:t>
            </a:r>
            <a:endParaRPr/>
          </a:p>
        </p:txBody>
      </p:sp>
      <p:graphicFrame>
        <p:nvGraphicFramePr>
          <p:cNvPr id="267" name="Google Shape;267;p22"/>
          <p:cNvGraphicFramePr/>
          <p:nvPr/>
        </p:nvGraphicFramePr>
        <p:xfrm>
          <a:off x="7772400" y="22128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{2BD0BE9C-4660-48CF-8801-D02DEA01EC5D}</a:tableStyleId>
              </a:tblPr>
              <a:tblGrid>
                <a:gridCol w="1325875"/>
                <a:gridCol w="749800"/>
                <a:gridCol w="1024125"/>
                <a:gridCol w="7681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Orders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Wholesale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Retail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X3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X3 PRO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X7 PRO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X7 PHEV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376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7F8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X7 PRO AWD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6181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TOTAL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991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732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547</a:t>
                      </a:r>
                      <a:endParaRPr/>
                    </a:p>
                  </a:txBody>
                  <a:tcPr marT="9150" marB="9150" marR="91450" marL="91450" anchor="ctr">
                    <a:solidFill>
                      <a:srgbClr val="1C4C97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22"/>
          <p:cNvSpPr/>
          <p:nvPr/>
        </p:nvSpPr>
        <p:spPr>
          <a:xfrm>
            <a:off x="548640" y="5596128"/>
            <a:ext cx="11094415" cy="603504"/>
          </a:xfrm>
          <a:prstGeom prst="roundRect">
            <a:avLst>
              <a:gd fmla="val 12000" name="adj"/>
            </a:avLst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548640" y="5596128"/>
            <a:ext cx="64008" cy="603504"/>
          </a:xfrm>
          <a:prstGeom prst="rect">
            <a:avLst/>
          </a:prstGeom>
          <a:solidFill>
            <a:srgbClr val="E5151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822959" y="5596128"/>
            <a:ext cx="10591495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181C"/>
                </a:solidFill>
                <a:latin typeface="Arial"/>
                <a:ea typeface="Arial"/>
                <a:cs typeface="Arial"/>
                <a:sym typeface="Arial"/>
              </a:rPr>
              <a:t>2025 was the pipeline-build year (177 units ordered, none yet retailed). 2026 marks full market entry: 991 units ordered, 732 wholesaled and 547 reaching customers.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548640" y="654710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KAIYI  ·  Argentina 2026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10728655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A9AEB7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itle_dark.jpg" id="277" name="Google Shape;27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aiyi_big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7228" y="3200400"/>
            <a:ext cx="2717238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0" y="5029200"/>
            <a:ext cx="1219169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  ·  谢谢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0" y="576072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FD3D8"/>
                </a:solidFill>
                <a:latin typeface="Arial"/>
                <a:ea typeface="Arial"/>
                <a:cs typeface="Arial"/>
                <a:sym typeface="Arial"/>
              </a:rPr>
              <a:t>Argentina 2026</a:t>
            </a:r>
            <a:endParaRPr/>
          </a:p>
        </p:txBody>
      </p:sp>
      <p:pic>
        <p:nvPicPr>
          <p:cNvPr descr="gep_whit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7127" y="6415964"/>
            <a:ext cx="2377440" cy="243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